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2" r:id="rId3"/>
    <p:sldId id="26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F3A1B1-35A3-D3D3-8BF6-EAD96017361C}" v="2544" dt="2025-11-10T17:42:34.9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D4AF1F-FB00-4E8D-89F9-6A8A2D9CB86B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C3A947E-9FBA-4C0F-8DB5-264F7C933FE2}">
      <dgm:prSet phldr="0"/>
      <dgm:spPr/>
      <dgm:t>
        <a:bodyPr/>
        <a:lstStyle/>
        <a:p>
          <a:r>
            <a:rPr lang="en-US" dirty="0">
              <a:latin typeface="Aptos Display" panose="020F0302020204030204"/>
            </a:rPr>
            <a:t>Problem</a:t>
          </a:r>
          <a:endParaRPr lang="en-US" dirty="0"/>
        </a:p>
      </dgm:t>
    </dgm:pt>
    <dgm:pt modelId="{F698A3EB-B445-43F0-8A64-EF6E6FA08C34}" type="parTrans" cxnId="{3C882706-32F1-4216-A3A6-20F25729CD89}">
      <dgm:prSet/>
      <dgm:spPr/>
      <dgm:t>
        <a:bodyPr/>
        <a:lstStyle/>
        <a:p>
          <a:endParaRPr lang="en-US"/>
        </a:p>
      </dgm:t>
    </dgm:pt>
    <dgm:pt modelId="{BD2688CC-B84B-4B16-A21D-3F69A16210FE}" type="sibTrans" cxnId="{3C882706-32F1-4216-A3A6-20F25729CD89}">
      <dgm:prSet/>
      <dgm:spPr/>
      <dgm:t>
        <a:bodyPr/>
        <a:lstStyle/>
        <a:p>
          <a:endParaRPr lang="en-US"/>
        </a:p>
      </dgm:t>
    </dgm:pt>
    <dgm:pt modelId="{ED85F8FA-7FEC-4292-BD72-6C49D3D7F53E}">
      <dgm:prSet/>
      <dgm:spPr/>
      <dgm:t>
        <a:bodyPr/>
        <a:lstStyle/>
        <a:p>
          <a:pPr rtl="0"/>
          <a:r>
            <a:rPr lang="en-US" i="0">
              <a:latin typeface="Aptos Display" panose="020F0302020204030204"/>
            </a:rPr>
            <a:t>A local</a:t>
          </a:r>
          <a:r>
            <a:rPr lang="en-US" i="0"/>
            <a:t> retailer </a:t>
          </a:r>
          <a:r>
            <a:rPr lang="en-US" i="0">
              <a:latin typeface="Aptos Display" panose="020F0302020204030204"/>
            </a:rPr>
            <a:t>wants to determine</a:t>
          </a:r>
          <a:r>
            <a:rPr lang="en-US" i="0"/>
            <a:t> </a:t>
          </a:r>
          <a:r>
            <a:rPr lang="en-US" i="0">
              <a:latin typeface="Aptos Display" panose="020F0302020204030204"/>
            </a:rPr>
            <a:t>the impact of implementing</a:t>
          </a:r>
          <a:r>
            <a:rPr lang="en-US" i="0"/>
            <a:t> sustainability messaging on </a:t>
          </a:r>
          <a:r>
            <a:rPr lang="en-US" i="0">
              <a:latin typeface="Aptos Display" panose="020F0302020204030204"/>
            </a:rPr>
            <a:t>cleaning product labels.</a:t>
          </a:r>
          <a:endParaRPr lang="en-US" i="0"/>
        </a:p>
      </dgm:t>
    </dgm:pt>
    <dgm:pt modelId="{0233D6E0-929E-4137-A9B5-4DEFD995923E}" type="parTrans" cxnId="{45C9F57A-CD20-4896-9D21-E186E62D2267}">
      <dgm:prSet/>
      <dgm:spPr/>
      <dgm:t>
        <a:bodyPr/>
        <a:lstStyle/>
        <a:p>
          <a:endParaRPr lang="en-US"/>
        </a:p>
      </dgm:t>
    </dgm:pt>
    <dgm:pt modelId="{B0887BA0-0A96-43F0-844C-573BEE9DCE34}" type="sibTrans" cxnId="{45C9F57A-CD20-4896-9D21-E186E62D2267}">
      <dgm:prSet/>
      <dgm:spPr/>
      <dgm:t>
        <a:bodyPr/>
        <a:lstStyle/>
        <a:p>
          <a:endParaRPr lang="en-US"/>
        </a:p>
      </dgm:t>
    </dgm:pt>
    <dgm:pt modelId="{5FF6E457-6756-4250-9B49-DFBED2350077}">
      <dgm:prSet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Analysis</a:t>
          </a:r>
          <a:endParaRPr lang="en-US"/>
        </a:p>
      </dgm:t>
    </dgm:pt>
    <dgm:pt modelId="{05810E7A-02A6-4ABF-A671-F58DB0A42604}" type="parTrans" cxnId="{B0470BD1-DAA6-4EEB-8633-C061843CEED9}">
      <dgm:prSet/>
      <dgm:spPr/>
      <dgm:t>
        <a:bodyPr/>
        <a:lstStyle/>
        <a:p>
          <a:endParaRPr lang="en-US"/>
        </a:p>
      </dgm:t>
    </dgm:pt>
    <dgm:pt modelId="{F4148DBE-768A-4752-8BA5-C2E483C60DC6}" type="sibTrans" cxnId="{B0470BD1-DAA6-4EEB-8633-C061843CEED9}">
      <dgm:prSet/>
      <dgm:spPr/>
      <dgm:t>
        <a:bodyPr/>
        <a:lstStyle/>
        <a:p>
          <a:endParaRPr lang="en-US"/>
        </a:p>
      </dgm:t>
    </dgm:pt>
    <dgm:pt modelId="{81682805-9933-431D-AB35-B6612847B184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Measured distribution of positive and negative survey responses about consumer perceptions and behaviors towards sustainability messaging.</a:t>
          </a:r>
          <a:endParaRPr lang="en-US" dirty="0"/>
        </a:p>
      </dgm:t>
    </dgm:pt>
    <dgm:pt modelId="{9168F4BE-F4DF-4B33-A62E-00151A706760}" type="parTrans" cxnId="{974C7385-DE68-4365-B90F-290C176F6233}">
      <dgm:prSet/>
      <dgm:spPr/>
    </dgm:pt>
    <dgm:pt modelId="{48E64677-672E-4BBE-AC23-7B7ECAF1AA2C}" type="sibTrans" cxnId="{974C7385-DE68-4365-B90F-290C176F6233}">
      <dgm:prSet/>
      <dgm:spPr/>
    </dgm:pt>
    <dgm:pt modelId="{0E640D48-2664-4973-937E-C59194D2F34A}">
      <dgm:prSet phldr="0"/>
      <dgm:spPr/>
      <dgm:t>
        <a:bodyPr/>
        <a:lstStyle/>
        <a:p>
          <a:pPr rtl="0"/>
          <a:r>
            <a:rPr lang="en-US" dirty="0">
              <a:latin typeface="Aptos Display" panose="020F0302020204030204"/>
            </a:rPr>
            <a:t>Tested correlations between key variables.</a:t>
          </a:r>
        </a:p>
      </dgm:t>
    </dgm:pt>
    <dgm:pt modelId="{CA466057-09BE-4D1D-ACD1-33D8366626EA}" type="parTrans" cxnId="{AA90CDC7-FF07-4424-901D-9F441BFB4F7A}">
      <dgm:prSet/>
      <dgm:spPr/>
    </dgm:pt>
    <dgm:pt modelId="{D3D55FA2-5CDC-450D-9368-46CB721D0C8F}" type="sibTrans" cxnId="{AA90CDC7-FF07-4424-901D-9F441BFB4F7A}">
      <dgm:prSet/>
      <dgm:spPr/>
    </dgm:pt>
    <dgm:pt modelId="{8B2E9647-09B9-4F32-8293-1E26E5ECA270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Tested relationships between key variables</a:t>
          </a:r>
          <a:r>
            <a:rPr lang="en-US" dirty="0">
              <a:latin typeface="Aptos Display" panose="020F0302020204030204"/>
            </a:rPr>
            <a:t>.</a:t>
          </a:r>
        </a:p>
      </dgm:t>
    </dgm:pt>
    <dgm:pt modelId="{07C7DFAB-C861-403B-B97C-8ED93DDC6A06}" type="parTrans" cxnId="{47539C45-871F-4CF7-86D4-25A8A4618D82}">
      <dgm:prSet/>
      <dgm:spPr/>
    </dgm:pt>
    <dgm:pt modelId="{19679AB7-60C5-4A1D-82C2-44459F55BADD}" type="sibTrans" cxnId="{47539C45-871F-4CF7-86D4-25A8A4618D82}">
      <dgm:prSet/>
      <dgm:spPr/>
    </dgm:pt>
    <dgm:pt modelId="{40A27E9F-FC6F-4F4F-8CEF-D56E443F0F08}">
      <dgm:prSet phldr="0"/>
      <dgm:spPr/>
      <dgm:t>
        <a:bodyPr/>
        <a:lstStyle/>
        <a:p>
          <a:pPr rtl="0"/>
          <a:r>
            <a:rPr lang="en-US">
              <a:latin typeface="Aptos Display" panose="020F0302020204030204"/>
            </a:rPr>
            <a:t>Results</a:t>
          </a:r>
        </a:p>
      </dgm:t>
    </dgm:pt>
    <dgm:pt modelId="{925CC786-A8A5-4B36-AD30-D88EF6B4C322}" type="parTrans" cxnId="{F178D308-9729-472E-A029-3A040236C994}">
      <dgm:prSet/>
      <dgm:spPr/>
    </dgm:pt>
    <dgm:pt modelId="{6CF42429-785C-419E-8951-381E3D527B42}" type="sibTrans" cxnId="{F178D308-9729-472E-A029-3A040236C994}">
      <dgm:prSet/>
      <dgm:spPr/>
    </dgm:pt>
    <dgm:pt modelId="{33F130BC-B9CC-46A1-B489-38B87AC56005}">
      <dgm:prSet phldr="0"/>
      <dgm:spPr/>
      <dgm:t>
        <a:bodyPr/>
        <a:lstStyle/>
        <a:p>
          <a:pPr rtl="0"/>
          <a:r>
            <a:rPr lang="en-US" sz="1400" dirty="0">
              <a:latin typeface="Aptos Display" panose="020F0302020204030204"/>
            </a:rPr>
            <a:t>Survey</a:t>
          </a:r>
          <a:r>
            <a:rPr lang="en-US" sz="1400" dirty="0"/>
            <a:t> responses were closely balanced between positive and negative </a:t>
          </a:r>
          <a:r>
            <a:rPr lang="en-US" sz="1400"/>
            <a:t>sentiment.</a:t>
          </a:r>
          <a:endParaRPr lang="en-US" dirty="0">
            <a:latin typeface="Aptos Display" panose="020F0302020204030204"/>
          </a:endParaRPr>
        </a:p>
      </dgm:t>
    </dgm:pt>
    <dgm:pt modelId="{0BBB0E7D-C999-4EEA-8F9D-3EE5CD641BEE}" type="parTrans" cxnId="{4CE19D2E-E64D-4D27-9A99-D62818E2EA86}">
      <dgm:prSet/>
      <dgm:spPr/>
    </dgm:pt>
    <dgm:pt modelId="{7B04FED0-D4CE-436F-B2EB-795672D13EC4}" type="sibTrans" cxnId="{4CE19D2E-E64D-4D27-9A99-D62818E2EA86}">
      <dgm:prSet/>
      <dgm:spPr/>
    </dgm:pt>
    <dgm:pt modelId="{0B09F47C-5496-43CA-8EB6-9475EF64D9E4}">
      <dgm:prSet phldr="0"/>
      <dgm:spPr/>
      <dgm:t>
        <a:bodyPr/>
        <a:lstStyle/>
        <a:p>
          <a:r>
            <a:rPr lang="en-US" sz="2200">
              <a:latin typeface="Aptos Display" panose="020F0302020204030204"/>
            </a:rPr>
            <a:t>Recommendations</a:t>
          </a:r>
          <a:endParaRPr lang="en-US" dirty="0"/>
        </a:p>
      </dgm:t>
    </dgm:pt>
    <dgm:pt modelId="{83973D9C-A90E-4245-A44A-12BAB4CA71C4}" type="parTrans" cxnId="{93E27326-D890-4ABB-9056-283444BC9D48}">
      <dgm:prSet/>
      <dgm:spPr/>
    </dgm:pt>
    <dgm:pt modelId="{C1BC794D-F984-4A0B-9447-F47E93B7C6CB}" type="sibTrans" cxnId="{93E27326-D890-4ABB-9056-283444BC9D48}">
      <dgm:prSet/>
      <dgm:spPr/>
    </dgm:pt>
    <dgm:pt modelId="{02C1F25E-B7C4-48B1-8B6A-09E6A8B5C18E}">
      <dgm:prSet phldr="0"/>
      <dgm:spPr/>
      <dgm:t>
        <a:bodyPr/>
        <a:lstStyle/>
        <a:p>
          <a:pPr rtl="0"/>
          <a:r>
            <a:rPr lang="en-US" sz="1400" dirty="0">
              <a:latin typeface="Aptos Display" panose="020F0302020204030204"/>
            </a:rPr>
            <a:t>No strong correlations were found between key variables.</a:t>
          </a:r>
        </a:p>
      </dgm:t>
    </dgm:pt>
    <dgm:pt modelId="{0A09D6BC-DD18-4427-9C2A-F30E272432C9}" type="parTrans" cxnId="{43C129C2-4E10-48B1-BDC9-35091A86C3E7}">
      <dgm:prSet/>
      <dgm:spPr/>
    </dgm:pt>
    <dgm:pt modelId="{ABA62D8F-CBE2-43DC-830C-9A4955D970CB}" type="sibTrans" cxnId="{43C129C2-4E10-48B1-BDC9-35091A86C3E7}">
      <dgm:prSet/>
      <dgm:spPr/>
    </dgm:pt>
    <dgm:pt modelId="{22D50E34-5E00-4CB9-A1DC-0AD0F9C24155}">
      <dgm:prSet phldr="0"/>
      <dgm:spPr/>
      <dgm:t>
        <a:bodyPr/>
        <a:lstStyle/>
        <a:p>
          <a:pPr rtl="0"/>
          <a:r>
            <a:rPr lang="en-US" sz="1400" dirty="0"/>
            <a:t>No strong relationships were found between key variables.</a:t>
          </a:r>
        </a:p>
      </dgm:t>
    </dgm:pt>
    <dgm:pt modelId="{8AFE1D0B-87E7-42B2-A2C0-0B924BCE61B7}" type="parTrans" cxnId="{9DD48EEF-C61B-4777-A794-DF4B556C0558}">
      <dgm:prSet/>
      <dgm:spPr/>
    </dgm:pt>
    <dgm:pt modelId="{A8025AEB-228F-42E8-8350-D5BC1D1D2BAE}" type="sibTrans" cxnId="{9DD48EEF-C61B-4777-A794-DF4B556C0558}">
      <dgm:prSet/>
      <dgm:spPr/>
    </dgm:pt>
    <dgm:pt modelId="{90322084-6947-4D35-B58E-BF4E353A74EF}">
      <dgm:prSet phldr="0"/>
      <dgm:spPr/>
      <dgm:t>
        <a:bodyPr/>
        <a:lstStyle/>
        <a:p>
          <a:pPr rtl="0"/>
          <a:r>
            <a:rPr lang="en-US" sz="1800" dirty="0">
              <a:latin typeface="Aptos Display" panose="020F0302020204030204"/>
            </a:rPr>
            <a:t>Capture feedback targeted to specific consumer groups.</a:t>
          </a:r>
        </a:p>
      </dgm:t>
    </dgm:pt>
    <dgm:pt modelId="{822984F8-E5AE-465C-8C1B-2F185CDF02F4}" type="parTrans" cxnId="{F9F441D1-671E-4D2E-9046-36F1FD6295C2}">
      <dgm:prSet/>
      <dgm:spPr/>
    </dgm:pt>
    <dgm:pt modelId="{7B0FCE1C-24EC-4AD9-BB48-4D1D41D49400}" type="sibTrans" cxnId="{F9F441D1-671E-4D2E-9046-36F1FD6295C2}">
      <dgm:prSet/>
      <dgm:spPr/>
    </dgm:pt>
    <dgm:pt modelId="{CABC5D84-A83A-4C6A-A781-FAAB40B3DFF9}">
      <dgm:prSet phldr="0"/>
      <dgm:spPr/>
      <dgm:t>
        <a:bodyPr/>
        <a:lstStyle/>
        <a:p>
          <a:pPr rtl="0"/>
          <a:r>
            <a:rPr lang="en-US" sz="1800" dirty="0">
              <a:latin typeface="Aptos Display" panose="020F0302020204030204"/>
            </a:rPr>
            <a:t>Run a pilot study to measure impact of targeted marketing.</a:t>
          </a:r>
        </a:p>
      </dgm:t>
    </dgm:pt>
    <dgm:pt modelId="{46F47305-A85B-4A88-B286-8F5B831285E8}" type="parTrans" cxnId="{66037969-E8A6-47AF-9D44-5A88E40DBFA5}">
      <dgm:prSet/>
      <dgm:spPr/>
    </dgm:pt>
    <dgm:pt modelId="{AE4F5A92-A5F7-4877-8631-29462B07CA1F}" type="sibTrans" cxnId="{66037969-E8A6-47AF-9D44-5A88E40DBFA5}">
      <dgm:prSet/>
      <dgm:spPr/>
    </dgm:pt>
    <dgm:pt modelId="{AC25DF88-3FC8-4713-A5AE-428E25210C08}" type="pres">
      <dgm:prSet presAssocID="{59D4AF1F-FB00-4E8D-89F9-6A8A2D9CB86B}" presName="linear" presStyleCnt="0">
        <dgm:presLayoutVars>
          <dgm:dir/>
          <dgm:animLvl val="lvl"/>
          <dgm:resizeHandles val="exact"/>
        </dgm:presLayoutVars>
      </dgm:prSet>
      <dgm:spPr/>
    </dgm:pt>
    <dgm:pt modelId="{2E89FDFD-3FD2-46DF-BC50-7D4FFD94DEB1}" type="pres">
      <dgm:prSet presAssocID="{FC3A947E-9FBA-4C0F-8DB5-264F7C933FE2}" presName="parentLin" presStyleCnt="0"/>
      <dgm:spPr/>
    </dgm:pt>
    <dgm:pt modelId="{EF95EDB7-4257-4DFF-B721-12077C58438D}" type="pres">
      <dgm:prSet presAssocID="{FC3A947E-9FBA-4C0F-8DB5-264F7C933FE2}" presName="parentLeftMargin" presStyleLbl="node1" presStyleIdx="0" presStyleCnt="4"/>
      <dgm:spPr/>
    </dgm:pt>
    <dgm:pt modelId="{3866DF7E-1067-4195-8E5F-1E1A10950DB9}" type="pres">
      <dgm:prSet presAssocID="{FC3A947E-9FBA-4C0F-8DB5-264F7C933FE2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9B700AD-7972-478F-97E8-05E327F7D9A3}" type="pres">
      <dgm:prSet presAssocID="{FC3A947E-9FBA-4C0F-8DB5-264F7C933FE2}" presName="negativeSpace" presStyleCnt="0"/>
      <dgm:spPr/>
    </dgm:pt>
    <dgm:pt modelId="{16FDD00E-0D64-475C-974F-788051170E95}" type="pres">
      <dgm:prSet presAssocID="{FC3A947E-9FBA-4C0F-8DB5-264F7C933FE2}" presName="childText" presStyleLbl="conFgAcc1" presStyleIdx="0" presStyleCnt="4">
        <dgm:presLayoutVars>
          <dgm:bulletEnabled val="1"/>
        </dgm:presLayoutVars>
      </dgm:prSet>
      <dgm:spPr/>
    </dgm:pt>
    <dgm:pt modelId="{02E85719-73CC-4CC9-A381-E009F746F2C8}" type="pres">
      <dgm:prSet presAssocID="{BD2688CC-B84B-4B16-A21D-3F69A16210FE}" presName="spaceBetweenRectangles" presStyleCnt="0"/>
      <dgm:spPr/>
    </dgm:pt>
    <dgm:pt modelId="{67219105-6476-4B0F-845F-AE0EAA8A36DF}" type="pres">
      <dgm:prSet presAssocID="{5FF6E457-6756-4250-9B49-DFBED2350077}" presName="parentLin" presStyleCnt="0"/>
      <dgm:spPr/>
    </dgm:pt>
    <dgm:pt modelId="{5C190493-55C5-4176-B478-183B31869BDA}" type="pres">
      <dgm:prSet presAssocID="{5FF6E457-6756-4250-9B49-DFBED2350077}" presName="parentLeftMargin" presStyleLbl="node1" presStyleIdx="0" presStyleCnt="4"/>
      <dgm:spPr/>
    </dgm:pt>
    <dgm:pt modelId="{8A9010F1-D28A-4F07-AB4B-E5F0F07DA6F4}" type="pres">
      <dgm:prSet presAssocID="{5FF6E457-6756-4250-9B49-DFBED235007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B410AAF-C451-44CA-ADF0-4AB452E1DEA3}" type="pres">
      <dgm:prSet presAssocID="{5FF6E457-6756-4250-9B49-DFBED2350077}" presName="negativeSpace" presStyleCnt="0"/>
      <dgm:spPr/>
    </dgm:pt>
    <dgm:pt modelId="{04CC2240-F971-4DB9-8C9C-268E43052106}" type="pres">
      <dgm:prSet presAssocID="{5FF6E457-6756-4250-9B49-DFBED2350077}" presName="childText" presStyleLbl="conFgAcc1" presStyleIdx="1" presStyleCnt="4">
        <dgm:presLayoutVars>
          <dgm:bulletEnabled val="1"/>
        </dgm:presLayoutVars>
      </dgm:prSet>
      <dgm:spPr/>
    </dgm:pt>
    <dgm:pt modelId="{4B9B50DA-72E6-4A64-8D98-42CDC5E2AE2D}" type="pres">
      <dgm:prSet presAssocID="{F4148DBE-768A-4752-8BA5-C2E483C60DC6}" presName="spaceBetweenRectangles" presStyleCnt="0"/>
      <dgm:spPr/>
    </dgm:pt>
    <dgm:pt modelId="{FA8CEFAC-518D-4623-ACE3-4669FF6F420B}" type="pres">
      <dgm:prSet presAssocID="{40A27E9F-FC6F-4F4F-8CEF-D56E443F0F08}" presName="parentLin" presStyleCnt="0"/>
      <dgm:spPr/>
    </dgm:pt>
    <dgm:pt modelId="{B27DD1DC-4021-4DA4-AAAE-A7FEC2FBED0F}" type="pres">
      <dgm:prSet presAssocID="{40A27E9F-FC6F-4F4F-8CEF-D56E443F0F08}" presName="parentLeftMargin" presStyleLbl="node1" presStyleIdx="1" presStyleCnt="4"/>
      <dgm:spPr/>
    </dgm:pt>
    <dgm:pt modelId="{E729D74C-60FD-45A6-91C6-0967D9419A85}" type="pres">
      <dgm:prSet presAssocID="{40A27E9F-FC6F-4F4F-8CEF-D56E443F0F0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52D25B9-A963-4BDB-BB97-10B180A2A979}" type="pres">
      <dgm:prSet presAssocID="{40A27E9F-FC6F-4F4F-8CEF-D56E443F0F08}" presName="negativeSpace" presStyleCnt="0"/>
      <dgm:spPr/>
    </dgm:pt>
    <dgm:pt modelId="{DD40DFE2-D1AC-4485-936E-AFFD0E92FA53}" type="pres">
      <dgm:prSet presAssocID="{40A27E9F-FC6F-4F4F-8CEF-D56E443F0F08}" presName="childText" presStyleLbl="conFgAcc1" presStyleIdx="2" presStyleCnt="4">
        <dgm:presLayoutVars>
          <dgm:bulletEnabled val="1"/>
        </dgm:presLayoutVars>
      </dgm:prSet>
      <dgm:spPr/>
    </dgm:pt>
    <dgm:pt modelId="{CAABCC6D-9909-4EF2-9628-8CA1E46DA207}" type="pres">
      <dgm:prSet presAssocID="{6CF42429-785C-419E-8951-381E3D527B42}" presName="spaceBetweenRectangles" presStyleCnt="0"/>
      <dgm:spPr/>
    </dgm:pt>
    <dgm:pt modelId="{E6539ADC-820C-4819-804C-51F6759BD0DE}" type="pres">
      <dgm:prSet presAssocID="{0B09F47C-5496-43CA-8EB6-9475EF64D9E4}" presName="parentLin" presStyleCnt="0"/>
      <dgm:spPr/>
    </dgm:pt>
    <dgm:pt modelId="{D289C184-04D0-4BA3-8D20-D3BA808AACD6}" type="pres">
      <dgm:prSet presAssocID="{0B09F47C-5496-43CA-8EB6-9475EF64D9E4}" presName="parentLeftMargin" presStyleLbl="node1" presStyleIdx="2" presStyleCnt="4"/>
      <dgm:spPr/>
    </dgm:pt>
    <dgm:pt modelId="{78DA17B6-5519-41A6-8E68-BB404A6B31EF}" type="pres">
      <dgm:prSet presAssocID="{0B09F47C-5496-43CA-8EB6-9475EF64D9E4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7C995A9E-568F-4B01-B1B5-08581E9F9D5B}" type="pres">
      <dgm:prSet presAssocID="{0B09F47C-5496-43CA-8EB6-9475EF64D9E4}" presName="negativeSpace" presStyleCnt="0"/>
      <dgm:spPr/>
    </dgm:pt>
    <dgm:pt modelId="{8977CAEC-1711-4FF7-B7F8-1FB46D7B2034}" type="pres">
      <dgm:prSet presAssocID="{0B09F47C-5496-43CA-8EB6-9475EF64D9E4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C882706-32F1-4216-A3A6-20F25729CD89}" srcId="{59D4AF1F-FB00-4E8D-89F9-6A8A2D9CB86B}" destId="{FC3A947E-9FBA-4C0F-8DB5-264F7C933FE2}" srcOrd="0" destOrd="0" parTransId="{F698A3EB-B445-43F0-8A64-EF6E6FA08C34}" sibTransId="{BD2688CC-B84B-4B16-A21D-3F69A16210FE}"/>
    <dgm:cxn modelId="{B1E88907-8B24-4E82-A3D0-C8B7823C50C4}" type="presOf" srcId="{40A27E9F-FC6F-4F4F-8CEF-D56E443F0F08}" destId="{B27DD1DC-4021-4DA4-AAAE-A7FEC2FBED0F}" srcOrd="0" destOrd="0" presId="urn:microsoft.com/office/officeart/2005/8/layout/list1"/>
    <dgm:cxn modelId="{F178D308-9729-472E-A029-3A040236C994}" srcId="{59D4AF1F-FB00-4E8D-89F9-6A8A2D9CB86B}" destId="{40A27E9F-FC6F-4F4F-8CEF-D56E443F0F08}" srcOrd="2" destOrd="0" parTransId="{925CC786-A8A5-4B36-AD30-D88EF6B4C322}" sibTransId="{6CF42429-785C-419E-8951-381E3D527B42}"/>
    <dgm:cxn modelId="{93E27326-D890-4ABB-9056-283444BC9D48}" srcId="{59D4AF1F-FB00-4E8D-89F9-6A8A2D9CB86B}" destId="{0B09F47C-5496-43CA-8EB6-9475EF64D9E4}" srcOrd="3" destOrd="0" parTransId="{83973D9C-A90E-4245-A44A-12BAB4CA71C4}" sibTransId="{C1BC794D-F984-4A0B-9447-F47E93B7C6CB}"/>
    <dgm:cxn modelId="{4CE19D2E-E64D-4D27-9A99-D62818E2EA86}" srcId="{40A27E9F-FC6F-4F4F-8CEF-D56E443F0F08}" destId="{33F130BC-B9CC-46A1-B489-38B87AC56005}" srcOrd="0" destOrd="0" parTransId="{0BBB0E7D-C999-4EEA-8F9D-3EE5CD641BEE}" sibTransId="{7B04FED0-D4CE-436F-B2EB-795672D13EC4}"/>
    <dgm:cxn modelId="{D65CDD39-1B1D-430D-AF4F-3F095BC977A6}" type="presOf" srcId="{0B09F47C-5496-43CA-8EB6-9475EF64D9E4}" destId="{D289C184-04D0-4BA3-8D20-D3BA808AACD6}" srcOrd="0" destOrd="0" presId="urn:microsoft.com/office/officeart/2005/8/layout/list1"/>
    <dgm:cxn modelId="{95C5BA5E-B089-4035-B3DB-3110F173E46F}" type="presOf" srcId="{59D4AF1F-FB00-4E8D-89F9-6A8A2D9CB86B}" destId="{AC25DF88-3FC8-4713-A5AE-428E25210C08}" srcOrd="0" destOrd="0" presId="urn:microsoft.com/office/officeart/2005/8/layout/list1"/>
    <dgm:cxn modelId="{47539C45-871F-4CF7-86D4-25A8A4618D82}" srcId="{5FF6E457-6756-4250-9B49-DFBED2350077}" destId="{8B2E9647-09B9-4F32-8293-1E26E5ECA270}" srcOrd="2" destOrd="0" parTransId="{07C7DFAB-C861-403B-B97C-8ED93DDC6A06}" sibTransId="{19679AB7-60C5-4A1D-82C2-44459F55BADD}"/>
    <dgm:cxn modelId="{864EFF67-17DC-4DAC-8295-E73A2F6DEFDB}" type="presOf" srcId="{0B09F47C-5496-43CA-8EB6-9475EF64D9E4}" destId="{78DA17B6-5519-41A6-8E68-BB404A6B31EF}" srcOrd="1" destOrd="0" presId="urn:microsoft.com/office/officeart/2005/8/layout/list1"/>
    <dgm:cxn modelId="{66037969-E8A6-47AF-9D44-5A88E40DBFA5}" srcId="{0B09F47C-5496-43CA-8EB6-9475EF64D9E4}" destId="{CABC5D84-A83A-4C6A-A781-FAAB40B3DFF9}" srcOrd="1" destOrd="0" parTransId="{46F47305-A85B-4A88-B286-8F5B831285E8}" sibTransId="{AE4F5A92-A5F7-4877-8631-29462B07CA1F}"/>
    <dgm:cxn modelId="{0819F071-C814-4C0D-85AE-F46879322448}" type="presOf" srcId="{0E640D48-2664-4973-937E-C59194D2F34A}" destId="{04CC2240-F971-4DB9-8C9C-268E43052106}" srcOrd="0" destOrd="1" presId="urn:microsoft.com/office/officeart/2005/8/layout/list1"/>
    <dgm:cxn modelId="{CDEB5173-F667-40AE-8259-F343921636ED}" type="presOf" srcId="{5FF6E457-6756-4250-9B49-DFBED2350077}" destId="{8A9010F1-D28A-4F07-AB4B-E5F0F07DA6F4}" srcOrd="1" destOrd="0" presId="urn:microsoft.com/office/officeart/2005/8/layout/list1"/>
    <dgm:cxn modelId="{45C9F57A-CD20-4896-9D21-E186E62D2267}" srcId="{FC3A947E-9FBA-4C0F-8DB5-264F7C933FE2}" destId="{ED85F8FA-7FEC-4292-BD72-6C49D3D7F53E}" srcOrd="0" destOrd="0" parTransId="{0233D6E0-929E-4137-A9B5-4DEFD995923E}" sibTransId="{B0887BA0-0A96-43F0-844C-573BEE9DCE34}"/>
    <dgm:cxn modelId="{D3C0D680-407A-4CAE-BDE7-466627D8057A}" type="presOf" srcId="{8B2E9647-09B9-4F32-8293-1E26E5ECA270}" destId="{04CC2240-F971-4DB9-8C9C-268E43052106}" srcOrd="0" destOrd="2" presId="urn:microsoft.com/office/officeart/2005/8/layout/list1"/>
    <dgm:cxn modelId="{974C7385-DE68-4365-B90F-290C176F6233}" srcId="{5FF6E457-6756-4250-9B49-DFBED2350077}" destId="{81682805-9933-431D-AB35-B6612847B184}" srcOrd="0" destOrd="0" parTransId="{9168F4BE-F4DF-4B33-A62E-00151A706760}" sibTransId="{48E64677-672E-4BBE-AC23-7B7ECAF1AA2C}"/>
    <dgm:cxn modelId="{CC49AA85-5EAE-43D8-832F-B0CBC9070EBD}" type="presOf" srcId="{ED85F8FA-7FEC-4292-BD72-6C49D3D7F53E}" destId="{16FDD00E-0D64-475C-974F-788051170E95}" srcOrd="0" destOrd="0" presId="urn:microsoft.com/office/officeart/2005/8/layout/list1"/>
    <dgm:cxn modelId="{A50C77A4-2B62-423D-AD0C-74D02766AB76}" type="presOf" srcId="{5FF6E457-6756-4250-9B49-DFBED2350077}" destId="{5C190493-55C5-4176-B478-183B31869BDA}" srcOrd="0" destOrd="0" presId="urn:microsoft.com/office/officeart/2005/8/layout/list1"/>
    <dgm:cxn modelId="{9EC3C6B3-7ECA-4141-AED6-45FB52057244}" type="presOf" srcId="{22D50E34-5E00-4CB9-A1DC-0AD0F9C24155}" destId="{DD40DFE2-D1AC-4485-936E-AFFD0E92FA53}" srcOrd="0" destOrd="2" presId="urn:microsoft.com/office/officeart/2005/8/layout/list1"/>
    <dgm:cxn modelId="{3AB796BB-23C8-4601-8587-810FDCA8CACA}" type="presOf" srcId="{81682805-9933-431D-AB35-B6612847B184}" destId="{04CC2240-F971-4DB9-8C9C-268E43052106}" srcOrd="0" destOrd="0" presId="urn:microsoft.com/office/officeart/2005/8/layout/list1"/>
    <dgm:cxn modelId="{43C129C2-4E10-48B1-BDC9-35091A86C3E7}" srcId="{40A27E9F-FC6F-4F4F-8CEF-D56E443F0F08}" destId="{02C1F25E-B7C4-48B1-8B6A-09E6A8B5C18E}" srcOrd="1" destOrd="0" parTransId="{0A09D6BC-DD18-4427-9C2A-F30E272432C9}" sibTransId="{ABA62D8F-CBE2-43DC-830C-9A4955D970CB}"/>
    <dgm:cxn modelId="{AA90CDC7-FF07-4424-901D-9F441BFB4F7A}" srcId="{5FF6E457-6756-4250-9B49-DFBED2350077}" destId="{0E640D48-2664-4973-937E-C59194D2F34A}" srcOrd="1" destOrd="0" parTransId="{CA466057-09BE-4D1D-ACD1-33D8366626EA}" sibTransId="{D3D55FA2-5CDC-450D-9368-46CB721D0C8F}"/>
    <dgm:cxn modelId="{604222CA-2C37-4330-B5B1-B19A1B2605AB}" type="presOf" srcId="{02C1F25E-B7C4-48B1-8B6A-09E6A8B5C18E}" destId="{DD40DFE2-D1AC-4485-936E-AFFD0E92FA53}" srcOrd="0" destOrd="1" presId="urn:microsoft.com/office/officeart/2005/8/layout/list1"/>
    <dgm:cxn modelId="{96914ACC-FC66-4AD7-9C87-6706BA12B60C}" type="presOf" srcId="{33F130BC-B9CC-46A1-B489-38B87AC56005}" destId="{DD40DFE2-D1AC-4485-936E-AFFD0E92FA53}" srcOrd="0" destOrd="0" presId="urn:microsoft.com/office/officeart/2005/8/layout/list1"/>
    <dgm:cxn modelId="{B0470BD1-DAA6-4EEB-8633-C061843CEED9}" srcId="{59D4AF1F-FB00-4E8D-89F9-6A8A2D9CB86B}" destId="{5FF6E457-6756-4250-9B49-DFBED2350077}" srcOrd="1" destOrd="0" parTransId="{05810E7A-02A6-4ABF-A671-F58DB0A42604}" sibTransId="{F4148DBE-768A-4752-8BA5-C2E483C60DC6}"/>
    <dgm:cxn modelId="{F9F441D1-671E-4D2E-9046-36F1FD6295C2}" srcId="{0B09F47C-5496-43CA-8EB6-9475EF64D9E4}" destId="{90322084-6947-4D35-B58E-BF4E353A74EF}" srcOrd="0" destOrd="0" parTransId="{822984F8-E5AE-465C-8C1B-2F185CDF02F4}" sibTransId="{7B0FCE1C-24EC-4AD9-BB48-4D1D41D49400}"/>
    <dgm:cxn modelId="{A41465D2-92CE-4B34-B111-07B7B291FA46}" type="presOf" srcId="{FC3A947E-9FBA-4C0F-8DB5-264F7C933FE2}" destId="{3866DF7E-1067-4195-8E5F-1E1A10950DB9}" srcOrd="1" destOrd="0" presId="urn:microsoft.com/office/officeart/2005/8/layout/list1"/>
    <dgm:cxn modelId="{AF514BD8-583C-4782-9222-88185A47E258}" type="presOf" srcId="{CABC5D84-A83A-4C6A-A781-FAAB40B3DFF9}" destId="{8977CAEC-1711-4FF7-B7F8-1FB46D7B2034}" srcOrd="0" destOrd="1" presId="urn:microsoft.com/office/officeart/2005/8/layout/list1"/>
    <dgm:cxn modelId="{85036AE1-1B2E-4148-9F90-BB62DA2F8ACB}" type="presOf" srcId="{90322084-6947-4D35-B58E-BF4E353A74EF}" destId="{8977CAEC-1711-4FF7-B7F8-1FB46D7B2034}" srcOrd="0" destOrd="0" presId="urn:microsoft.com/office/officeart/2005/8/layout/list1"/>
    <dgm:cxn modelId="{1F5AE8E7-ED5C-4F92-8B17-AC991207A2BA}" type="presOf" srcId="{FC3A947E-9FBA-4C0F-8DB5-264F7C933FE2}" destId="{EF95EDB7-4257-4DFF-B721-12077C58438D}" srcOrd="0" destOrd="0" presId="urn:microsoft.com/office/officeart/2005/8/layout/list1"/>
    <dgm:cxn modelId="{9DD48EEF-C61B-4777-A794-DF4B556C0558}" srcId="{40A27E9F-FC6F-4F4F-8CEF-D56E443F0F08}" destId="{22D50E34-5E00-4CB9-A1DC-0AD0F9C24155}" srcOrd="2" destOrd="0" parTransId="{8AFE1D0B-87E7-42B2-A2C0-0B924BCE61B7}" sibTransId="{A8025AEB-228F-42E8-8350-D5BC1D1D2BAE}"/>
    <dgm:cxn modelId="{288B57F9-93D0-4CD2-BF52-FCAA62FB8B79}" type="presOf" srcId="{40A27E9F-FC6F-4F4F-8CEF-D56E443F0F08}" destId="{E729D74C-60FD-45A6-91C6-0967D9419A85}" srcOrd="1" destOrd="0" presId="urn:microsoft.com/office/officeart/2005/8/layout/list1"/>
    <dgm:cxn modelId="{47D2EDBF-25A3-4F48-B974-B799E8370FF9}" type="presParOf" srcId="{AC25DF88-3FC8-4713-A5AE-428E25210C08}" destId="{2E89FDFD-3FD2-46DF-BC50-7D4FFD94DEB1}" srcOrd="0" destOrd="0" presId="urn:microsoft.com/office/officeart/2005/8/layout/list1"/>
    <dgm:cxn modelId="{2A8D8C15-261B-4B41-9411-D449505CA00E}" type="presParOf" srcId="{2E89FDFD-3FD2-46DF-BC50-7D4FFD94DEB1}" destId="{EF95EDB7-4257-4DFF-B721-12077C58438D}" srcOrd="0" destOrd="0" presId="urn:microsoft.com/office/officeart/2005/8/layout/list1"/>
    <dgm:cxn modelId="{0E3FB546-D70E-49D5-BA8B-8CD04FA5FB4B}" type="presParOf" srcId="{2E89FDFD-3FD2-46DF-BC50-7D4FFD94DEB1}" destId="{3866DF7E-1067-4195-8E5F-1E1A10950DB9}" srcOrd="1" destOrd="0" presId="urn:microsoft.com/office/officeart/2005/8/layout/list1"/>
    <dgm:cxn modelId="{8B523364-7964-4606-932F-42169A236FA2}" type="presParOf" srcId="{AC25DF88-3FC8-4713-A5AE-428E25210C08}" destId="{19B700AD-7972-478F-97E8-05E327F7D9A3}" srcOrd="1" destOrd="0" presId="urn:microsoft.com/office/officeart/2005/8/layout/list1"/>
    <dgm:cxn modelId="{94F6CBE9-4AEA-49A5-A409-90FD6A5451FB}" type="presParOf" srcId="{AC25DF88-3FC8-4713-A5AE-428E25210C08}" destId="{16FDD00E-0D64-475C-974F-788051170E95}" srcOrd="2" destOrd="0" presId="urn:microsoft.com/office/officeart/2005/8/layout/list1"/>
    <dgm:cxn modelId="{F4572713-2FBA-4F2F-A06F-3C3FE07E0F41}" type="presParOf" srcId="{AC25DF88-3FC8-4713-A5AE-428E25210C08}" destId="{02E85719-73CC-4CC9-A381-E009F746F2C8}" srcOrd="3" destOrd="0" presId="urn:microsoft.com/office/officeart/2005/8/layout/list1"/>
    <dgm:cxn modelId="{881F23D1-1B2D-4305-96E1-EE04A612BF78}" type="presParOf" srcId="{AC25DF88-3FC8-4713-A5AE-428E25210C08}" destId="{67219105-6476-4B0F-845F-AE0EAA8A36DF}" srcOrd="4" destOrd="0" presId="urn:microsoft.com/office/officeart/2005/8/layout/list1"/>
    <dgm:cxn modelId="{1C503DA3-40F9-481F-9BBE-1EE6D2D4AC7D}" type="presParOf" srcId="{67219105-6476-4B0F-845F-AE0EAA8A36DF}" destId="{5C190493-55C5-4176-B478-183B31869BDA}" srcOrd="0" destOrd="0" presId="urn:microsoft.com/office/officeart/2005/8/layout/list1"/>
    <dgm:cxn modelId="{89C69B00-10C1-4EA8-A685-F5D0CB2214CE}" type="presParOf" srcId="{67219105-6476-4B0F-845F-AE0EAA8A36DF}" destId="{8A9010F1-D28A-4F07-AB4B-E5F0F07DA6F4}" srcOrd="1" destOrd="0" presId="urn:microsoft.com/office/officeart/2005/8/layout/list1"/>
    <dgm:cxn modelId="{30E1A665-504C-4B35-A0A2-BB3E9A5B2C90}" type="presParOf" srcId="{AC25DF88-3FC8-4713-A5AE-428E25210C08}" destId="{5B410AAF-C451-44CA-ADF0-4AB452E1DEA3}" srcOrd="5" destOrd="0" presId="urn:microsoft.com/office/officeart/2005/8/layout/list1"/>
    <dgm:cxn modelId="{3D848EA9-4D1F-4555-AEA5-6A3F9B0724BF}" type="presParOf" srcId="{AC25DF88-3FC8-4713-A5AE-428E25210C08}" destId="{04CC2240-F971-4DB9-8C9C-268E43052106}" srcOrd="6" destOrd="0" presId="urn:microsoft.com/office/officeart/2005/8/layout/list1"/>
    <dgm:cxn modelId="{D9F46B9F-DFB8-4225-91EE-1390748B6356}" type="presParOf" srcId="{AC25DF88-3FC8-4713-A5AE-428E25210C08}" destId="{4B9B50DA-72E6-4A64-8D98-42CDC5E2AE2D}" srcOrd="7" destOrd="0" presId="urn:microsoft.com/office/officeart/2005/8/layout/list1"/>
    <dgm:cxn modelId="{8FE6D01B-8506-4C3A-8BD7-AD1F05075B52}" type="presParOf" srcId="{AC25DF88-3FC8-4713-A5AE-428E25210C08}" destId="{FA8CEFAC-518D-4623-ACE3-4669FF6F420B}" srcOrd="8" destOrd="0" presId="urn:microsoft.com/office/officeart/2005/8/layout/list1"/>
    <dgm:cxn modelId="{952C8E03-B741-4DF2-A2A3-2ECA2418C198}" type="presParOf" srcId="{FA8CEFAC-518D-4623-ACE3-4669FF6F420B}" destId="{B27DD1DC-4021-4DA4-AAAE-A7FEC2FBED0F}" srcOrd="0" destOrd="0" presId="urn:microsoft.com/office/officeart/2005/8/layout/list1"/>
    <dgm:cxn modelId="{493E8538-8B8C-4148-989A-E6D9A4187E6A}" type="presParOf" srcId="{FA8CEFAC-518D-4623-ACE3-4669FF6F420B}" destId="{E729D74C-60FD-45A6-91C6-0967D9419A85}" srcOrd="1" destOrd="0" presId="urn:microsoft.com/office/officeart/2005/8/layout/list1"/>
    <dgm:cxn modelId="{2A6FA824-2C6F-42D9-B5F5-49BFB65EABF8}" type="presParOf" srcId="{AC25DF88-3FC8-4713-A5AE-428E25210C08}" destId="{552D25B9-A963-4BDB-BB97-10B180A2A979}" srcOrd="9" destOrd="0" presId="urn:microsoft.com/office/officeart/2005/8/layout/list1"/>
    <dgm:cxn modelId="{FCF2F285-CAC3-4BE0-8705-36CBB305F10A}" type="presParOf" srcId="{AC25DF88-3FC8-4713-A5AE-428E25210C08}" destId="{DD40DFE2-D1AC-4485-936E-AFFD0E92FA53}" srcOrd="10" destOrd="0" presId="urn:microsoft.com/office/officeart/2005/8/layout/list1"/>
    <dgm:cxn modelId="{A25D1282-E566-47E5-9F79-E44E5B6908FC}" type="presParOf" srcId="{AC25DF88-3FC8-4713-A5AE-428E25210C08}" destId="{CAABCC6D-9909-4EF2-9628-8CA1E46DA207}" srcOrd="11" destOrd="0" presId="urn:microsoft.com/office/officeart/2005/8/layout/list1"/>
    <dgm:cxn modelId="{8BFF6A2A-F892-4966-A45A-823ACC351511}" type="presParOf" srcId="{AC25DF88-3FC8-4713-A5AE-428E25210C08}" destId="{E6539ADC-820C-4819-804C-51F6759BD0DE}" srcOrd="12" destOrd="0" presId="urn:microsoft.com/office/officeart/2005/8/layout/list1"/>
    <dgm:cxn modelId="{C2299091-074E-4C2E-B050-B50EA629D1BE}" type="presParOf" srcId="{E6539ADC-820C-4819-804C-51F6759BD0DE}" destId="{D289C184-04D0-4BA3-8D20-D3BA808AACD6}" srcOrd="0" destOrd="0" presId="urn:microsoft.com/office/officeart/2005/8/layout/list1"/>
    <dgm:cxn modelId="{7B826F37-3E41-4E30-ADF4-36774DD29691}" type="presParOf" srcId="{E6539ADC-820C-4819-804C-51F6759BD0DE}" destId="{78DA17B6-5519-41A6-8E68-BB404A6B31EF}" srcOrd="1" destOrd="0" presId="urn:microsoft.com/office/officeart/2005/8/layout/list1"/>
    <dgm:cxn modelId="{B8097890-5497-4096-B63B-482BE25B3926}" type="presParOf" srcId="{AC25DF88-3FC8-4713-A5AE-428E25210C08}" destId="{7C995A9E-568F-4B01-B1B5-08581E9F9D5B}" srcOrd="13" destOrd="0" presId="urn:microsoft.com/office/officeart/2005/8/layout/list1"/>
    <dgm:cxn modelId="{31B28998-DD76-41EA-BCA4-233D1C832E4C}" type="presParOf" srcId="{AC25DF88-3FC8-4713-A5AE-428E25210C08}" destId="{8977CAEC-1711-4FF7-B7F8-1FB46D7B2034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FDD00E-0D64-475C-974F-788051170E95}">
      <dsp:nvSpPr>
        <dsp:cNvPr id="0" name=""/>
        <dsp:cNvSpPr/>
      </dsp:nvSpPr>
      <dsp:spPr>
        <a:xfrm>
          <a:off x="0" y="333225"/>
          <a:ext cx="7561189" cy="9639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832" tIns="354076" rIns="586832" bIns="120904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i="0" kern="1200">
              <a:latin typeface="Aptos Display" panose="020F0302020204030204"/>
            </a:rPr>
            <a:t>A local</a:t>
          </a:r>
          <a:r>
            <a:rPr lang="en-US" sz="1700" i="0" kern="1200"/>
            <a:t> retailer </a:t>
          </a:r>
          <a:r>
            <a:rPr lang="en-US" sz="1700" i="0" kern="1200">
              <a:latin typeface="Aptos Display" panose="020F0302020204030204"/>
            </a:rPr>
            <a:t>wants to determine</a:t>
          </a:r>
          <a:r>
            <a:rPr lang="en-US" sz="1700" i="0" kern="1200"/>
            <a:t> </a:t>
          </a:r>
          <a:r>
            <a:rPr lang="en-US" sz="1700" i="0" kern="1200">
              <a:latin typeface="Aptos Display" panose="020F0302020204030204"/>
            </a:rPr>
            <a:t>the impact of implementing</a:t>
          </a:r>
          <a:r>
            <a:rPr lang="en-US" sz="1700" i="0" kern="1200"/>
            <a:t> sustainability messaging on </a:t>
          </a:r>
          <a:r>
            <a:rPr lang="en-US" sz="1700" i="0" kern="1200">
              <a:latin typeface="Aptos Display" panose="020F0302020204030204"/>
            </a:rPr>
            <a:t>cleaning product labels.</a:t>
          </a:r>
          <a:endParaRPr lang="en-US" sz="1700" i="0" kern="1200"/>
        </a:p>
      </dsp:txBody>
      <dsp:txXfrm>
        <a:off x="0" y="333225"/>
        <a:ext cx="7561189" cy="963900"/>
      </dsp:txXfrm>
    </dsp:sp>
    <dsp:sp modelId="{3866DF7E-1067-4195-8E5F-1E1A10950DB9}">
      <dsp:nvSpPr>
        <dsp:cNvPr id="0" name=""/>
        <dsp:cNvSpPr/>
      </dsp:nvSpPr>
      <dsp:spPr>
        <a:xfrm>
          <a:off x="378059" y="82305"/>
          <a:ext cx="5292832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56" tIns="0" rIns="20005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Aptos Display" panose="020F0302020204030204"/>
            </a:rPr>
            <a:t>Problem</a:t>
          </a:r>
          <a:endParaRPr lang="en-US" sz="1700" kern="1200" dirty="0"/>
        </a:p>
      </dsp:txBody>
      <dsp:txXfrm>
        <a:off x="402557" y="106803"/>
        <a:ext cx="5243836" cy="452844"/>
      </dsp:txXfrm>
    </dsp:sp>
    <dsp:sp modelId="{04CC2240-F971-4DB9-8C9C-268E43052106}">
      <dsp:nvSpPr>
        <dsp:cNvPr id="0" name=""/>
        <dsp:cNvSpPr/>
      </dsp:nvSpPr>
      <dsp:spPr>
        <a:xfrm>
          <a:off x="0" y="1639845"/>
          <a:ext cx="7561189" cy="1526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832" tIns="354076" rIns="586832" bIns="120904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Aptos Display" panose="020F0302020204030204"/>
            </a:rPr>
            <a:t>Measured distribution of positive and negative survey responses about consumer perceptions and behaviors towards sustainability messaging.</a:t>
          </a:r>
          <a:endParaRPr lang="en-US" sz="1700" kern="1200" dirty="0"/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Aptos Display" panose="020F0302020204030204"/>
            </a:rPr>
            <a:t>Tested correlations between key variables.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>
              <a:latin typeface="Aptos Display" panose="020F0302020204030204"/>
            </a:rPr>
            <a:t>Tested relationships between key variables</a:t>
          </a:r>
          <a:r>
            <a:rPr lang="en-US" sz="1700" kern="1200" dirty="0">
              <a:latin typeface="Aptos Display" panose="020F0302020204030204"/>
            </a:rPr>
            <a:t>.</a:t>
          </a:r>
        </a:p>
      </dsp:txBody>
      <dsp:txXfrm>
        <a:off x="0" y="1639845"/>
        <a:ext cx="7561189" cy="1526175"/>
      </dsp:txXfrm>
    </dsp:sp>
    <dsp:sp modelId="{8A9010F1-D28A-4F07-AB4B-E5F0F07DA6F4}">
      <dsp:nvSpPr>
        <dsp:cNvPr id="0" name=""/>
        <dsp:cNvSpPr/>
      </dsp:nvSpPr>
      <dsp:spPr>
        <a:xfrm>
          <a:off x="378059" y="1388925"/>
          <a:ext cx="5292832" cy="5018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56" tIns="0" rIns="200056" bIns="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 Display" panose="020F0302020204030204"/>
            </a:rPr>
            <a:t>Analysis</a:t>
          </a:r>
          <a:endParaRPr lang="en-US" sz="1700" kern="1200"/>
        </a:p>
      </dsp:txBody>
      <dsp:txXfrm>
        <a:off x="402557" y="1413423"/>
        <a:ext cx="5243836" cy="452844"/>
      </dsp:txXfrm>
    </dsp:sp>
    <dsp:sp modelId="{DD40DFE2-D1AC-4485-936E-AFFD0E92FA53}">
      <dsp:nvSpPr>
        <dsp:cNvPr id="0" name=""/>
        <dsp:cNvSpPr/>
      </dsp:nvSpPr>
      <dsp:spPr>
        <a:xfrm>
          <a:off x="0" y="3508740"/>
          <a:ext cx="7561189" cy="1526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832" tIns="354076" rIns="586832" bIns="120904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Aptos Display" panose="020F0302020204030204"/>
            </a:rPr>
            <a:t>Survey</a:t>
          </a:r>
          <a:r>
            <a:rPr lang="en-US" sz="1700" kern="1200" dirty="0"/>
            <a:t> responses were closely balanced between positive and negative </a:t>
          </a:r>
          <a:r>
            <a:rPr lang="en-US" sz="1700" kern="1200"/>
            <a:t>sentiment.</a:t>
          </a:r>
          <a:endParaRPr lang="en-US" sz="1700" kern="1200" dirty="0">
            <a:latin typeface="Aptos Display" panose="020F0302020204030204"/>
          </a:endParaRP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Aptos Display" panose="020F0302020204030204"/>
            </a:rPr>
            <a:t>No strong correlations were found between key variables.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No strong relationships were found between key variables.</a:t>
          </a:r>
        </a:p>
      </dsp:txBody>
      <dsp:txXfrm>
        <a:off x="0" y="3508740"/>
        <a:ext cx="7561189" cy="1526175"/>
      </dsp:txXfrm>
    </dsp:sp>
    <dsp:sp modelId="{E729D74C-60FD-45A6-91C6-0967D9419A85}">
      <dsp:nvSpPr>
        <dsp:cNvPr id="0" name=""/>
        <dsp:cNvSpPr/>
      </dsp:nvSpPr>
      <dsp:spPr>
        <a:xfrm>
          <a:off x="378059" y="3257820"/>
          <a:ext cx="5292832" cy="5018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56" tIns="0" rIns="200056" bIns="0" numCol="1" spcCol="1270" anchor="ctr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 Display" panose="020F0302020204030204"/>
            </a:rPr>
            <a:t>Results</a:t>
          </a:r>
        </a:p>
      </dsp:txBody>
      <dsp:txXfrm>
        <a:off x="402557" y="3282318"/>
        <a:ext cx="5243836" cy="452844"/>
      </dsp:txXfrm>
    </dsp:sp>
    <dsp:sp modelId="{8977CAEC-1711-4FF7-B7F8-1FB46D7B2034}">
      <dsp:nvSpPr>
        <dsp:cNvPr id="0" name=""/>
        <dsp:cNvSpPr/>
      </dsp:nvSpPr>
      <dsp:spPr>
        <a:xfrm>
          <a:off x="0" y="5377636"/>
          <a:ext cx="7561189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86832" tIns="354076" rIns="586832" bIns="120904" numCol="1" spcCol="1270" anchor="t" anchorCtr="0">
          <a:noAutofit/>
        </a:bodyPr>
        <a:lstStyle/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Aptos Display" panose="020F0302020204030204"/>
            </a:rPr>
            <a:t>Capture feedback targeted to specific consumer groups.</a:t>
          </a:r>
        </a:p>
        <a:p>
          <a:pPr marL="171450" lvl="1" indent="-171450" algn="l" defTabSz="7556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>
              <a:latin typeface="Aptos Display" panose="020F0302020204030204"/>
            </a:rPr>
            <a:t>Run a pilot study to measure impact of targeted marketing.</a:t>
          </a:r>
        </a:p>
      </dsp:txBody>
      <dsp:txXfrm>
        <a:off x="0" y="5377636"/>
        <a:ext cx="7561189" cy="990675"/>
      </dsp:txXfrm>
    </dsp:sp>
    <dsp:sp modelId="{78DA17B6-5519-41A6-8E68-BB404A6B31EF}">
      <dsp:nvSpPr>
        <dsp:cNvPr id="0" name=""/>
        <dsp:cNvSpPr/>
      </dsp:nvSpPr>
      <dsp:spPr>
        <a:xfrm>
          <a:off x="378059" y="5126716"/>
          <a:ext cx="5292832" cy="501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56" tIns="0" rIns="200056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Aptos Display" panose="020F0302020204030204"/>
            </a:rPr>
            <a:t>Recommendations</a:t>
          </a:r>
          <a:endParaRPr lang="en-US" sz="1700" kern="1200" dirty="0"/>
        </a:p>
      </dsp:txBody>
      <dsp:txXfrm>
        <a:off x="402557" y="5151214"/>
        <a:ext cx="5243836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5D6D3-F219-223C-88D9-94F82729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F990DA14-E78A-0975-1E10-572566D58055}"/>
              </a:ext>
            </a:extLst>
          </p:cNvPr>
          <p:cNvSpPr/>
          <p:nvPr/>
        </p:nvSpPr>
        <p:spPr>
          <a:xfrm>
            <a:off x="20782" y="-6927"/>
            <a:ext cx="2869277" cy="687185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40CDA5-6DB2-B79B-BAE2-EB3029C64F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7774626"/>
              </p:ext>
            </p:extLst>
          </p:nvPr>
        </p:nvGraphicFramePr>
        <p:xfrm>
          <a:off x="3795659" y="199978"/>
          <a:ext cx="7561189" cy="6450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E528734-46C4-A925-440B-6D77EA065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37" y="681879"/>
            <a:ext cx="2833809" cy="5498619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bg1">
                    <a:lumMod val="95000"/>
                  </a:schemeClr>
                </a:solidFill>
              </a:rPr>
              <a:t>Executive Summary</a:t>
            </a:r>
          </a:p>
        </p:txBody>
      </p:sp>
    </p:spTree>
    <p:extLst>
      <p:ext uri="{BB962C8B-B14F-4D97-AF65-F5344CB8AC3E}">
        <p14:creationId xmlns:p14="http://schemas.microsoft.com/office/powerpoint/2010/main" val="2958209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ED99CF-D081-1571-58B5-7763676A5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58CD57E-7BBB-8D97-7D45-FF2F49A80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A0479E-B121-099F-5460-37547F7A0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0343FD-77D5-2A8A-5E86-8D91ABEB5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3A5E5A-736F-1783-A136-AB868DFF0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F0B3FA-ED2F-6DD6-6105-D6D5B54E3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49534-E502-4D9F-88C9-F45D45029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Behavioral Study Findings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4321CE-FFAF-0824-4B6D-FB981B18F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46" y="4284406"/>
            <a:ext cx="7074324" cy="20739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D0A92D6-25E2-854C-E946-3E896CED2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589" y="1688481"/>
            <a:ext cx="7082409" cy="24749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47BE19-278B-2925-A436-FA90685A2376}"/>
              </a:ext>
            </a:extLst>
          </p:cNvPr>
          <p:cNvSpPr txBox="1"/>
          <p:nvPr/>
        </p:nvSpPr>
        <p:spPr>
          <a:xfrm>
            <a:off x="7785875" y="1710372"/>
            <a:ext cx="4182372" cy="46474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Sentiment toward sustainability messaging is mixed.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Participants were </a:t>
            </a:r>
            <a:r>
              <a:rPr lang="en-US" i="1">
                <a:ea typeface="+mn-lt"/>
                <a:cs typeface="+mn-lt"/>
              </a:rPr>
              <a:t>not</a:t>
            </a:r>
            <a:r>
              <a:rPr lang="en-US">
                <a:ea typeface="+mn-lt"/>
                <a:cs typeface="+mn-lt"/>
              </a:rPr>
              <a:t> more likely to purchase the product when a sustainability message was shown.</a:t>
            </a:r>
          </a:p>
          <a:p>
            <a:endParaRPr lang="en-US" sz="16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6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6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6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600" b="1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Correlation analysis shows no strong relationships.</a:t>
            </a:r>
            <a:br>
              <a:rPr lang="en-US" b="1" dirty="0">
                <a:ea typeface="+mn-lt"/>
                <a:cs typeface="+mn-lt"/>
              </a:rPr>
            </a:br>
            <a:r>
              <a:rPr lang="en-US" b="1">
                <a:ea typeface="+mn-lt"/>
                <a:cs typeface="+mn-lt"/>
              </a:rPr>
              <a:t> The presence or absence of sustainability messaging did </a:t>
            </a:r>
            <a:r>
              <a:rPr lang="en-US" i="1">
                <a:ea typeface="+mn-lt"/>
                <a:cs typeface="+mn-lt"/>
              </a:rPr>
              <a:t>not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>
                <a:ea typeface="+mn-lt"/>
                <a:cs typeface="+mn-lt"/>
              </a:rPr>
              <a:t>significantly affect key variables such as appeal, likelihood to purchase, or trust.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9B0FF1-A245-75E0-3795-BA19F61CF830}"/>
              </a:ext>
            </a:extLst>
          </p:cNvPr>
          <p:cNvSpPr txBox="1"/>
          <p:nvPr/>
        </p:nvSpPr>
        <p:spPr>
          <a:xfrm>
            <a:off x="377321" y="6421187"/>
            <a:ext cx="113564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Note: </a:t>
            </a:r>
            <a:r>
              <a:rPr lang="en-US"/>
              <a:t>Similar results were found in the perception study.</a:t>
            </a:r>
          </a:p>
        </p:txBody>
      </p:sp>
    </p:spTree>
    <p:extLst>
      <p:ext uri="{BB962C8B-B14F-4D97-AF65-F5344CB8AC3E}">
        <p14:creationId xmlns:p14="http://schemas.microsoft.com/office/powerpoint/2010/main" val="2003832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E3DA1E-1258-2619-1B96-292E1BCCF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4600FAA9-8A23-16CF-64F5-B837CE8F8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6D1FAE2-8137-EED8-ED2E-36D567802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748215" cy="6857999"/>
          </a:xfrm>
          <a:custGeom>
            <a:avLst/>
            <a:gdLst>
              <a:gd name="connsiteX0" fmla="*/ 0 w 9024730"/>
              <a:gd name="connsiteY0" fmla="*/ 0 h 6857999"/>
              <a:gd name="connsiteX1" fmla="*/ 9024730 w 9024730"/>
              <a:gd name="connsiteY1" fmla="*/ 0 h 6857999"/>
              <a:gd name="connsiteX2" fmla="*/ 9024730 w 9024730"/>
              <a:gd name="connsiteY2" fmla="*/ 2 h 6857999"/>
              <a:gd name="connsiteX3" fmla="*/ 8447016 w 9024730"/>
              <a:gd name="connsiteY3" fmla="*/ 2 h 6857999"/>
              <a:gd name="connsiteX4" fmla="*/ 8441214 w 9024730"/>
              <a:gd name="connsiteY4" fmla="*/ 14562 h 6857999"/>
              <a:gd name="connsiteX5" fmla="*/ 8445389 w 9024730"/>
              <a:gd name="connsiteY5" fmla="*/ 59077 h 6857999"/>
              <a:gd name="connsiteX6" fmla="*/ 8437086 w 9024730"/>
              <a:gd name="connsiteY6" fmla="*/ 107668 h 6857999"/>
              <a:gd name="connsiteX7" fmla="*/ 8458599 w 9024730"/>
              <a:gd name="connsiteY7" fmla="*/ 246136 h 6857999"/>
              <a:gd name="connsiteX8" fmla="*/ 8433237 w 9024730"/>
              <a:gd name="connsiteY8" fmla="*/ 372908 h 6857999"/>
              <a:gd name="connsiteX9" fmla="*/ 8430194 w 9024730"/>
              <a:gd name="connsiteY9" fmla="*/ 450607 h 6857999"/>
              <a:gd name="connsiteX10" fmla="*/ 8443315 w 9024730"/>
              <a:gd name="connsiteY10" fmla="*/ 812800 h 6857999"/>
              <a:gd name="connsiteX11" fmla="*/ 8453042 w 9024730"/>
              <a:gd name="connsiteY11" fmla="*/ 912727 h 6857999"/>
              <a:gd name="connsiteX12" fmla="*/ 8451649 w 9024730"/>
              <a:gd name="connsiteY12" fmla="*/ 989950 h 6857999"/>
              <a:gd name="connsiteX13" fmla="*/ 8455592 w 9024730"/>
              <a:gd name="connsiteY13" fmla="*/ 1141745 h 6857999"/>
              <a:gd name="connsiteX14" fmla="*/ 8470203 w 9024730"/>
              <a:gd name="connsiteY14" fmla="*/ 1265454 h 6857999"/>
              <a:gd name="connsiteX15" fmla="*/ 8499638 w 9024730"/>
              <a:gd name="connsiteY15" fmla="*/ 1385480 h 6857999"/>
              <a:gd name="connsiteX16" fmla="*/ 8518660 w 9024730"/>
              <a:gd name="connsiteY16" fmla="*/ 1458060 h 6857999"/>
              <a:gd name="connsiteX17" fmla="*/ 8539125 w 9024730"/>
              <a:gd name="connsiteY17" fmla="*/ 1513175 h 6857999"/>
              <a:gd name="connsiteX18" fmla="*/ 8570281 w 9024730"/>
              <a:gd name="connsiteY18" fmla="*/ 1570809 h 6857999"/>
              <a:gd name="connsiteX19" fmla="*/ 8605212 w 9024730"/>
              <a:gd name="connsiteY19" fmla="*/ 1638391 h 6857999"/>
              <a:gd name="connsiteX20" fmla="*/ 8626457 w 9024730"/>
              <a:gd name="connsiteY20" fmla="*/ 1742490 h 6857999"/>
              <a:gd name="connsiteX21" fmla="*/ 8654861 w 9024730"/>
              <a:gd name="connsiteY21" fmla="*/ 1818229 h 6857999"/>
              <a:gd name="connsiteX22" fmla="*/ 8648005 w 9024730"/>
              <a:gd name="connsiteY22" fmla="*/ 1862723 h 6857999"/>
              <a:gd name="connsiteX23" fmla="*/ 8654469 w 9024730"/>
              <a:gd name="connsiteY23" fmla="*/ 1917476 h 6857999"/>
              <a:gd name="connsiteX24" fmla="*/ 8649702 w 9024730"/>
              <a:gd name="connsiteY24" fmla="*/ 1972204 h 6857999"/>
              <a:gd name="connsiteX25" fmla="*/ 8656357 w 9024730"/>
              <a:gd name="connsiteY25" fmla="*/ 2054291 h 6857999"/>
              <a:gd name="connsiteX26" fmla="*/ 8648660 w 9024730"/>
              <a:gd name="connsiteY26" fmla="*/ 2227417 h 6857999"/>
              <a:gd name="connsiteX27" fmla="*/ 8607609 w 9024730"/>
              <a:gd name="connsiteY27" fmla="*/ 2510933 h 6857999"/>
              <a:gd name="connsiteX28" fmla="*/ 8608432 w 9024730"/>
              <a:gd name="connsiteY28" fmla="*/ 2741866 h 6857999"/>
              <a:gd name="connsiteX29" fmla="*/ 8619112 w 9024730"/>
              <a:gd name="connsiteY29" fmla="*/ 2864935 h 6857999"/>
              <a:gd name="connsiteX30" fmla="*/ 8627742 w 9024730"/>
              <a:gd name="connsiteY30" fmla="*/ 2950807 h 6857999"/>
              <a:gd name="connsiteX31" fmla="*/ 8611822 w 9024730"/>
              <a:gd name="connsiteY31" fmla="*/ 2978246 h 6857999"/>
              <a:gd name="connsiteX32" fmla="*/ 8608239 w 9024730"/>
              <a:gd name="connsiteY32" fmla="*/ 2995916 h 6857999"/>
              <a:gd name="connsiteX33" fmla="*/ 8598647 w 9024730"/>
              <a:gd name="connsiteY33" fmla="*/ 2998648 h 6857999"/>
              <a:gd name="connsiteX34" fmla="*/ 8587108 w 9024730"/>
              <a:gd name="connsiteY34" fmla="*/ 3023630 h 6857999"/>
              <a:gd name="connsiteX35" fmla="*/ 8577885 w 9024730"/>
              <a:gd name="connsiteY35" fmla="*/ 3096975 h 6857999"/>
              <a:gd name="connsiteX36" fmla="*/ 8557492 w 9024730"/>
              <a:gd name="connsiteY36" fmla="*/ 3216657 h 6857999"/>
              <a:gd name="connsiteX37" fmla="*/ 8560894 w 9024730"/>
              <a:gd name="connsiteY37" fmla="*/ 3310980 h 6857999"/>
              <a:gd name="connsiteX38" fmla="*/ 8547852 w 9024730"/>
              <a:gd name="connsiteY38" fmla="*/ 3344725 h 6857999"/>
              <a:gd name="connsiteX39" fmla="*/ 8535427 w 9024730"/>
              <a:gd name="connsiteY39" fmla="*/ 3393250 h 6857999"/>
              <a:gd name="connsiteX40" fmla="*/ 8520092 w 9024730"/>
              <a:gd name="connsiteY40" fmla="*/ 3514536 h 6857999"/>
              <a:gd name="connsiteX41" fmla="*/ 8497231 w 9024730"/>
              <a:gd name="connsiteY41" fmla="*/ 3686149 h 6857999"/>
              <a:gd name="connsiteX42" fmla="*/ 8489799 w 9024730"/>
              <a:gd name="connsiteY42" fmla="*/ 3692208 h 6857999"/>
              <a:gd name="connsiteX43" fmla="*/ 8475804 w 9024730"/>
              <a:gd name="connsiteY43" fmla="*/ 3776022 h 6857999"/>
              <a:gd name="connsiteX44" fmla="*/ 8471279 w 9024730"/>
              <a:gd name="connsiteY44" fmla="*/ 3977138 h 6857999"/>
              <a:gd name="connsiteX45" fmla="*/ 8408913 w 9024730"/>
              <a:gd name="connsiteY45" fmla="*/ 4222149 h 6857999"/>
              <a:gd name="connsiteX46" fmla="*/ 8402112 w 9024730"/>
              <a:gd name="connsiteY46" fmla="*/ 4364683 h 6857999"/>
              <a:gd name="connsiteX47" fmla="*/ 8393355 w 9024730"/>
              <a:gd name="connsiteY47" fmla="*/ 4462471 h 6857999"/>
              <a:gd name="connsiteX48" fmla="*/ 8376166 w 9024730"/>
              <a:gd name="connsiteY48" fmla="*/ 4574052 h 6857999"/>
              <a:gd name="connsiteX49" fmla="*/ 8341678 w 9024730"/>
              <a:gd name="connsiteY49" fmla="*/ 4667756 h 6857999"/>
              <a:gd name="connsiteX50" fmla="*/ 8273661 w 9024730"/>
              <a:gd name="connsiteY50" fmla="*/ 4799019 h 6857999"/>
              <a:gd name="connsiteX51" fmla="*/ 8256132 w 9024730"/>
              <a:gd name="connsiteY51" fmla="*/ 4849614 h 6857999"/>
              <a:gd name="connsiteX52" fmla="*/ 8226804 w 9024730"/>
              <a:gd name="connsiteY52" fmla="*/ 4919971 h 6857999"/>
              <a:gd name="connsiteX53" fmla="*/ 8171825 w 9024730"/>
              <a:gd name="connsiteY53" fmla="*/ 5010766 h 6857999"/>
              <a:gd name="connsiteX54" fmla="*/ 8143172 w 9024730"/>
              <a:gd name="connsiteY54" fmla="*/ 5088190 h 6857999"/>
              <a:gd name="connsiteX55" fmla="*/ 8126363 w 9024730"/>
              <a:gd name="connsiteY55" fmla="*/ 5143922 h 6857999"/>
              <a:gd name="connsiteX56" fmla="*/ 8103782 w 9024730"/>
              <a:gd name="connsiteY56" fmla="*/ 5284346 h 6857999"/>
              <a:gd name="connsiteX57" fmla="*/ 8084361 w 9024730"/>
              <a:gd name="connsiteY57" fmla="*/ 5390948 h 6857999"/>
              <a:gd name="connsiteX58" fmla="*/ 8062552 w 9024730"/>
              <a:gd name="connsiteY58" fmla="*/ 5470854 h 6857999"/>
              <a:gd name="connsiteX59" fmla="*/ 8057342 w 9024730"/>
              <a:gd name="connsiteY59" fmla="*/ 5529643 h 6857999"/>
              <a:gd name="connsiteX60" fmla="*/ 8044923 w 9024730"/>
              <a:gd name="connsiteY60" fmla="*/ 5597292 h 6857999"/>
              <a:gd name="connsiteX61" fmla="*/ 8035233 w 9024730"/>
              <a:gd name="connsiteY61" fmla="*/ 5608899 h 6857999"/>
              <a:gd name="connsiteX62" fmla="*/ 8018178 w 9024730"/>
              <a:gd name="connsiteY62" fmla="*/ 5684911 h 6857999"/>
              <a:gd name="connsiteX63" fmla="*/ 8018018 w 9024730"/>
              <a:gd name="connsiteY63" fmla="*/ 5755776 h 6857999"/>
              <a:gd name="connsiteX64" fmla="*/ 8008640 w 9024730"/>
              <a:gd name="connsiteY64" fmla="*/ 5889599 h 6857999"/>
              <a:gd name="connsiteX65" fmla="*/ 8013542 w 9024730"/>
              <a:gd name="connsiteY65" fmla="*/ 5989744 h 6857999"/>
              <a:gd name="connsiteX66" fmla="*/ 7980757 w 9024730"/>
              <a:gd name="connsiteY66" fmla="*/ 6084926 h 6857999"/>
              <a:gd name="connsiteX67" fmla="*/ 7975907 w 9024730"/>
              <a:gd name="connsiteY67" fmla="*/ 6346549 h 6857999"/>
              <a:gd name="connsiteX68" fmla="*/ 7974221 w 9024730"/>
              <a:gd name="connsiteY68" fmla="*/ 6527527 h 6857999"/>
              <a:gd name="connsiteX69" fmla="*/ 7979135 w 9024730"/>
              <a:gd name="connsiteY69" fmla="*/ 6627129 h 6857999"/>
              <a:gd name="connsiteX70" fmla="*/ 7979404 w 9024730"/>
              <a:gd name="connsiteY70" fmla="*/ 6694819 h 6857999"/>
              <a:gd name="connsiteX71" fmla="*/ 8009526 w 9024730"/>
              <a:gd name="connsiteY71" fmla="*/ 6765445 h 6857999"/>
              <a:gd name="connsiteX72" fmla="*/ 8018211 w 9024730"/>
              <a:gd name="connsiteY72" fmla="*/ 6844697 h 6857999"/>
              <a:gd name="connsiteX73" fmla="*/ 8019608 w 9024730"/>
              <a:gd name="connsiteY73" fmla="*/ 6857999 h 6857999"/>
              <a:gd name="connsiteX74" fmla="*/ 0 w 9024730"/>
              <a:gd name="connsiteY74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9024730" h="6857999">
                <a:moveTo>
                  <a:pt x="0" y="0"/>
                </a:moveTo>
                <a:lnTo>
                  <a:pt x="9024730" y="0"/>
                </a:lnTo>
                <a:lnTo>
                  <a:pt x="9024730" y="2"/>
                </a:lnTo>
                <a:lnTo>
                  <a:pt x="8447016" y="2"/>
                </a:lnTo>
                <a:lnTo>
                  <a:pt x="8441214" y="14562"/>
                </a:lnTo>
                <a:lnTo>
                  <a:pt x="8445389" y="59077"/>
                </a:lnTo>
                <a:cubicBezTo>
                  <a:pt x="8445971" y="76949"/>
                  <a:pt x="8436504" y="89796"/>
                  <a:pt x="8437086" y="107668"/>
                </a:cubicBezTo>
                <a:cubicBezTo>
                  <a:pt x="8417947" y="138162"/>
                  <a:pt x="8459241" y="201929"/>
                  <a:pt x="8458599" y="246136"/>
                </a:cubicBezTo>
                <a:cubicBezTo>
                  <a:pt x="8457958" y="290343"/>
                  <a:pt x="8471649" y="364179"/>
                  <a:pt x="8433237" y="372908"/>
                </a:cubicBezTo>
                <a:cubicBezTo>
                  <a:pt x="8426916" y="431308"/>
                  <a:pt x="8438389" y="357606"/>
                  <a:pt x="8430194" y="450607"/>
                </a:cubicBezTo>
                <a:cubicBezTo>
                  <a:pt x="8466727" y="551950"/>
                  <a:pt x="8430182" y="787036"/>
                  <a:pt x="8443315" y="812800"/>
                </a:cubicBezTo>
                <a:cubicBezTo>
                  <a:pt x="8478999" y="860799"/>
                  <a:pt x="8435788" y="854953"/>
                  <a:pt x="8453042" y="912727"/>
                </a:cubicBezTo>
                <a:cubicBezTo>
                  <a:pt x="8462900" y="945986"/>
                  <a:pt x="8451223" y="951781"/>
                  <a:pt x="8451649" y="989950"/>
                </a:cubicBezTo>
                <a:cubicBezTo>
                  <a:pt x="8452074" y="1028120"/>
                  <a:pt x="8452500" y="1095828"/>
                  <a:pt x="8455592" y="1141745"/>
                </a:cubicBezTo>
                <a:cubicBezTo>
                  <a:pt x="8458684" y="1187662"/>
                  <a:pt x="8470047" y="1234783"/>
                  <a:pt x="8470203" y="1265454"/>
                </a:cubicBezTo>
                <a:cubicBezTo>
                  <a:pt x="8458947" y="1304052"/>
                  <a:pt x="8496012" y="1370755"/>
                  <a:pt x="8499638" y="1385480"/>
                </a:cubicBezTo>
                <a:cubicBezTo>
                  <a:pt x="8514485" y="1422714"/>
                  <a:pt x="8525070" y="1428103"/>
                  <a:pt x="8518660" y="1458060"/>
                </a:cubicBezTo>
                <a:cubicBezTo>
                  <a:pt x="8518783" y="1468057"/>
                  <a:pt x="8539003" y="1503177"/>
                  <a:pt x="8539125" y="1513175"/>
                </a:cubicBezTo>
                <a:lnTo>
                  <a:pt x="8570281" y="1570809"/>
                </a:lnTo>
                <a:cubicBezTo>
                  <a:pt x="8597636" y="1617136"/>
                  <a:pt x="8594573" y="1601443"/>
                  <a:pt x="8605212" y="1638391"/>
                </a:cubicBezTo>
                <a:cubicBezTo>
                  <a:pt x="8629645" y="1719640"/>
                  <a:pt x="8613884" y="1715203"/>
                  <a:pt x="8626457" y="1742490"/>
                </a:cubicBezTo>
                <a:lnTo>
                  <a:pt x="8654861" y="1818229"/>
                </a:lnTo>
                <a:cubicBezTo>
                  <a:pt x="8657202" y="1824059"/>
                  <a:pt x="8651899" y="1851211"/>
                  <a:pt x="8648005" y="1862723"/>
                </a:cubicBezTo>
                <a:lnTo>
                  <a:pt x="8654469" y="1917476"/>
                </a:lnTo>
                <a:lnTo>
                  <a:pt x="8649702" y="1972204"/>
                </a:lnTo>
                <a:cubicBezTo>
                  <a:pt x="8652251" y="1979569"/>
                  <a:pt x="8651461" y="2048203"/>
                  <a:pt x="8656357" y="2054291"/>
                </a:cubicBezTo>
                <a:cubicBezTo>
                  <a:pt x="8672645" y="2141657"/>
                  <a:pt x="8632397" y="2189849"/>
                  <a:pt x="8648660" y="2227417"/>
                </a:cubicBezTo>
                <a:cubicBezTo>
                  <a:pt x="8639941" y="2317591"/>
                  <a:pt x="8613796" y="2407644"/>
                  <a:pt x="8607609" y="2510933"/>
                </a:cubicBezTo>
                <a:cubicBezTo>
                  <a:pt x="8633490" y="2597916"/>
                  <a:pt x="8602674" y="2649734"/>
                  <a:pt x="8608432" y="2741866"/>
                </a:cubicBezTo>
                <a:cubicBezTo>
                  <a:pt x="8630300" y="2779815"/>
                  <a:pt x="8631929" y="2817058"/>
                  <a:pt x="8619112" y="2864935"/>
                </a:cubicBezTo>
                <a:cubicBezTo>
                  <a:pt x="8655820" y="2860552"/>
                  <a:pt x="8588374" y="2937673"/>
                  <a:pt x="8627742" y="2950807"/>
                </a:cubicBezTo>
                <a:lnTo>
                  <a:pt x="8611822" y="2978246"/>
                </a:lnTo>
                <a:lnTo>
                  <a:pt x="8608239" y="2995916"/>
                </a:lnTo>
                <a:lnTo>
                  <a:pt x="8598647" y="2998648"/>
                </a:lnTo>
                <a:lnTo>
                  <a:pt x="8587108" y="3023630"/>
                </a:lnTo>
                <a:cubicBezTo>
                  <a:pt x="8584111" y="3033333"/>
                  <a:pt x="8577413" y="3084375"/>
                  <a:pt x="8577885" y="3096975"/>
                </a:cubicBezTo>
                <a:cubicBezTo>
                  <a:pt x="8594321" y="3142205"/>
                  <a:pt x="8535131" y="3160433"/>
                  <a:pt x="8557492" y="3216657"/>
                </a:cubicBezTo>
                <a:cubicBezTo>
                  <a:pt x="8562518" y="3237178"/>
                  <a:pt x="8573573" y="3299737"/>
                  <a:pt x="8560894" y="3310980"/>
                </a:cubicBezTo>
                <a:cubicBezTo>
                  <a:pt x="8557601" y="3323902"/>
                  <a:pt x="8561083" y="3339340"/>
                  <a:pt x="8547852" y="3344725"/>
                </a:cubicBezTo>
                <a:cubicBezTo>
                  <a:pt x="8531788" y="3353908"/>
                  <a:pt x="8553430" y="3400659"/>
                  <a:pt x="8535427" y="3393250"/>
                </a:cubicBezTo>
                <a:cubicBezTo>
                  <a:pt x="8550195" y="3426421"/>
                  <a:pt x="8529553" y="3487753"/>
                  <a:pt x="8520092" y="3514536"/>
                </a:cubicBezTo>
                <a:cubicBezTo>
                  <a:pt x="8513726" y="3563353"/>
                  <a:pt x="8500070" y="3650327"/>
                  <a:pt x="8497231" y="3686149"/>
                </a:cubicBezTo>
                <a:cubicBezTo>
                  <a:pt x="8494574" y="3687657"/>
                  <a:pt x="8493370" y="3677229"/>
                  <a:pt x="8489799" y="3692208"/>
                </a:cubicBezTo>
                <a:cubicBezTo>
                  <a:pt x="8486228" y="3707187"/>
                  <a:pt x="8465938" y="3757479"/>
                  <a:pt x="8475804" y="3776022"/>
                </a:cubicBezTo>
                <a:cubicBezTo>
                  <a:pt x="8441061" y="3875691"/>
                  <a:pt x="8487451" y="3939839"/>
                  <a:pt x="8471279" y="3977138"/>
                </a:cubicBezTo>
                <a:cubicBezTo>
                  <a:pt x="8465599" y="4067300"/>
                  <a:pt x="8419685" y="4164564"/>
                  <a:pt x="8408913" y="4222149"/>
                </a:cubicBezTo>
                <a:cubicBezTo>
                  <a:pt x="8403583" y="4287917"/>
                  <a:pt x="8398240" y="4339232"/>
                  <a:pt x="8402112" y="4364683"/>
                </a:cubicBezTo>
                <a:lnTo>
                  <a:pt x="8393355" y="4462471"/>
                </a:lnTo>
                <a:cubicBezTo>
                  <a:pt x="8396004" y="4503329"/>
                  <a:pt x="8376320" y="4548111"/>
                  <a:pt x="8376166" y="4574052"/>
                </a:cubicBezTo>
                <a:cubicBezTo>
                  <a:pt x="8369380" y="4670665"/>
                  <a:pt x="8352302" y="4649921"/>
                  <a:pt x="8341678" y="4667756"/>
                </a:cubicBezTo>
                <a:cubicBezTo>
                  <a:pt x="8320864" y="4705850"/>
                  <a:pt x="8290794" y="4758928"/>
                  <a:pt x="8273661" y="4799019"/>
                </a:cubicBezTo>
                <a:cubicBezTo>
                  <a:pt x="8254323" y="4834076"/>
                  <a:pt x="8262378" y="4811645"/>
                  <a:pt x="8256132" y="4849614"/>
                </a:cubicBezTo>
                <a:cubicBezTo>
                  <a:pt x="8239320" y="4853334"/>
                  <a:pt x="8207060" y="4883089"/>
                  <a:pt x="8226804" y="4919971"/>
                </a:cubicBezTo>
                <a:lnTo>
                  <a:pt x="8171825" y="5010766"/>
                </a:lnTo>
                <a:cubicBezTo>
                  <a:pt x="8150097" y="4983259"/>
                  <a:pt x="8165842" y="5107656"/>
                  <a:pt x="8143172" y="5088190"/>
                </a:cubicBezTo>
                <a:cubicBezTo>
                  <a:pt x="8128060" y="5102008"/>
                  <a:pt x="8138350" y="5118851"/>
                  <a:pt x="8126363" y="5143922"/>
                </a:cubicBezTo>
                <a:cubicBezTo>
                  <a:pt x="8116335" y="5192745"/>
                  <a:pt x="8111851" y="5226225"/>
                  <a:pt x="8103782" y="5284346"/>
                </a:cubicBezTo>
                <a:cubicBezTo>
                  <a:pt x="8101016" y="5338386"/>
                  <a:pt x="8095811" y="5337325"/>
                  <a:pt x="8084361" y="5390948"/>
                </a:cubicBezTo>
                <a:cubicBezTo>
                  <a:pt x="8082912" y="5429655"/>
                  <a:pt x="8063705" y="5449508"/>
                  <a:pt x="8062552" y="5470854"/>
                </a:cubicBezTo>
                <a:cubicBezTo>
                  <a:pt x="8086776" y="5526328"/>
                  <a:pt x="8037513" y="5496377"/>
                  <a:pt x="8057342" y="5529643"/>
                </a:cubicBezTo>
                <a:cubicBezTo>
                  <a:pt x="8050653" y="5550879"/>
                  <a:pt x="8055939" y="5587444"/>
                  <a:pt x="8044923" y="5597292"/>
                </a:cubicBezTo>
                <a:lnTo>
                  <a:pt x="8035233" y="5608899"/>
                </a:lnTo>
                <a:cubicBezTo>
                  <a:pt x="8030775" y="5623501"/>
                  <a:pt x="8021047" y="5660431"/>
                  <a:pt x="8018178" y="5684911"/>
                </a:cubicBezTo>
                <a:cubicBezTo>
                  <a:pt x="8005590" y="5692608"/>
                  <a:pt x="8011744" y="5734344"/>
                  <a:pt x="8018018" y="5755776"/>
                </a:cubicBezTo>
                <a:cubicBezTo>
                  <a:pt x="8019409" y="5792777"/>
                  <a:pt x="7989082" y="5848613"/>
                  <a:pt x="8008640" y="5889599"/>
                </a:cubicBezTo>
                <a:cubicBezTo>
                  <a:pt x="8011480" y="5932097"/>
                  <a:pt x="8009486" y="5940901"/>
                  <a:pt x="8013542" y="5989744"/>
                </a:cubicBezTo>
                <a:cubicBezTo>
                  <a:pt x="8022089" y="6020787"/>
                  <a:pt x="7982918" y="6024963"/>
                  <a:pt x="7980757" y="6084926"/>
                </a:cubicBezTo>
                <a:cubicBezTo>
                  <a:pt x="7974117" y="6134231"/>
                  <a:pt x="7999371" y="6240432"/>
                  <a:pt x="7975907" y="6346549"/>
                </a:cubicBezTo>
                <a:cubicBezTo>
                  <a:pt x="7987225" y="6409741"/>
                  <a:pt x="7980509" y="6468689"/>
                  <a:pt x="7974221" y="6527527"/>
                </a:cubicBezTo>
                <a:cubicBezTo>
                  <a:pt x="7955361" y="6585667"/>
                  <a:pt x="7987786" y="6579284"/>
                  <a:pt x="7979135" y="6627129"/>
                </a:cubicBezTo>
                <a:cubicBezTo>
                  <a:pt x="7983057" y="6635153"/>
                  <a:pt x="7984986" y="6697665"/>
                  <a:pt x="7979404" y="6694819"/>
                </a:cubicBezTo>
                <a:cubicBezTo>
                  <a:pt x="7981755" y="6716947"/>
                  <a:pt x="8003903" y="6732844"/>
                  <a:pt x="8009526" y="6765445"/>
                </a:cubicBezTo>
                <a:cubicBezTo>
                  <a:pt x="8011113" y="6776325"/>
                  <a:pt x="8014662" y="6810511"/>
                  <a:pt x="8018211" y="6844697"/>
                </a:cubicBezTo>
                <a:lnTo>
                  <a:pt x="8019608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8C58EA-70BD-34C0-7306-B1D7C7F5F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966" y="0"/>
            <a:ext cx="9180163" cy="876198"/>
          </a:xfrm>
        </p:spPr>
        <p:txBody>
          <a:bodyPr>
            <a:normAutofit/>
          </a:bodyPr>
          <a:lstStyle/>
          <a:p>
            <a:r>
              <a:rPr lang="en-US"/>
              <a:t>Key Insights and Recommendations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6E92A-E855-9AED-3A35-5AC0ED771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689" y="1236467"/>
            <a:ext cx="8439536" cy="522811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Key Insights</a:t>
            </a:r>
            <a:endParaRPr lang="en-US"/>
          </a:p>
          <a:p>
            <a:r>
              <a:rPr lang="en-US" sz="1800" dirty="0">
                <a:ea typeface="+mn-lt"/>
                <a:cs typeface="+mn-lt"/>
              </a:rPr>
              <a:t>Broad sustainability messaging has limited market impact.</a:t>
            </a:r>
            <a:endParaRPr lang="en-US" dirty="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Five consumer groups differ in sustainability attitudes and behaviors.</a:t>
            </a:r>
            <a:endParaRPr lang="en-US" dirty="0">
              <a:ea typeface="+mn-lt"/>
              <a:cs typeface="+mn-lt"/>
            </a:endParaRPr>
          </a:p>
          <a:p>
            <a:r>
              <a:rPr lang="en-US" sz="1800">
                <a:ea typeface="+mn-lt"/>
                <a:cs typeface="+mn-lt"/>
              </a:rPr>
              <a:t>Cost sensitivity and lack of choice are consistent barriers across all groups.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Recommendations</a:t>
            </a:r>
            <a:endParaRPr lang="en-US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Confirm whether industry trends align with our customer base.</a:t>
            </a:r>
            <a:endParaRPr lang="en-US" dirty="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Identify which messages resonate most with high-impact segments.</a:t>
            </a:r>
            <a:endParaRPr lang="en-US" dirty="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Define the most effective sustainability positioning for cleaning products.</a:t>
            </a:r>
            <a:endParaRPr lang="en-US" dirty="0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Pilot targeted messaging to test profit potential.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b="1">
                <a:ea typeface="+mn-lt"/>
                <a:cs typeface="+mn-lt"/>
              </a:rPr>
              <a:t>Measures</a:t>
            </a:r>
            <a:endParaRPr lang="en-US">
              <a:ea typeface="+mn-lt"/>
              <a:cs typeface="+mn-lt"/>
            </a:endParaRPr>
          </a:p>
          <a:p>
            <a:r>
              <a:rPr lang="en-US" sz="1800" dirty="0">
                <a:ea typeface="+mn-lt"/>
                <a:cs typeface="+mn-lt"/>
              </a:rPr>
              <a:t>Establish a baseline using the prior year’s $70K sales gap.</a:t>
            </a:r>
            <a:endParaRPr lang="en-US" dirty="0"/>
          </a:p>
          <a:p>
            <a:r>
              <a:rPr lang="en-US" sz="1800">
                <a:ea typeface="+mn-lt"/>
                <a:cs typeface="+mn-lt"/>
              </a:rPr>
              <a:t>Set quarterly KPIs — e.g., reduce the sales gap by 2.5% per quarter in Year 1.</a:t>
            </a:r>
          </a:p>
        </p:txBody>
      </p:sp>
      <p:pic>
        <p:nvPicPr>
          <p:cNvPr id="7" name="Graphic 6" descr="Business Growth">
            <a:extLst>
              <a:ext uri="{FF2B5EF4-FFF2-40B4-BE49-F238E27FC236}">
                <a16:creationId xmlns:a16="http://schemas.microsoft.com/office/drawing/2014/main" id="{FDA70739-9A6C-B7DF-9AD4-EA4AF8516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95981" y="1990229"/>
            <a:ext cx="2906973" cy="2906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15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Executive Summary</vt:lpstr>
      <vt:lpstr>Behavioral Study Findings</vt:lpstr>
      <vt:lpstr>Key Insights and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662</cp:revision>
  <dcterms:created xsi:type="dcterms:W3CDTF">2025-11-08T03:17:43Z</dcterms:created>
  <dcterms:modified xsi:type="dcterms:W3CDTF">2025-11-10T18:00:46Z</dcterms:modified>
</cp:coreProperties>
</file>